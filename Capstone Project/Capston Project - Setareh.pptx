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9"/>
  </p:notesMasterIdLst>
  <p:sldIdLst>
    <p:sldId id="257" r:id="rId5"/>
    <p:sldId id="259" r:id="rId6"/>
    <p:sldId id="260" r:id="rId7"/>
    <p:sldId id="261" r:id="rId8"/>
    <p:sldId id="262" r:id="rId9"/>
    <p:sldId id="273" r:id="rId10"/>
    <p:sldId id="271" r:id="rId11"/>
    <p:sldId id="272" r:id="rId12"/>
    <p:sldId id="263" r:id="rId13"/>
    <p:sldId id="265" r:id="rId14"/>
    <p:sldId id="264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61064" autoAdjust="0"/>
  </p:normalViewPr>
  <p:slideViewPr>
    <p:cSldViewPr snapToGrid="0">
      <p:cViewPr varScale="1">
        <p:scale>
          <a:sx n="39" d="100"/>
          <a:sy n="39" d="100"/>
        </p:scale>
        <p:origin x="9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23D1C-A0F2-4BA6-AF2B-E9F63A90EC12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909BA-F22B-47FD-9B88-BF25610CA1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539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528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38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0111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634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990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0917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9723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632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469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88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5495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055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0999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09BA-F22B-47FD-9B88-BF25610CA153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349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dirty="0"/>
              <a:t>Breast Cancer Diagnosis Using Machine Learning</a:t>
            </a:r>
            <a:br>
              <a:rPr lang="en-US" sz="5400" dirty="0"/>
            </a:br>
            <a:r>
              <a:rPr lang="en-US" sz="2000" dirty="0">
                <a:solidFill>
                  <a:schemeClr val="bg1"/>
                </a:solidFill>
              </a:rPr>
              <a:t>k</a:t>
            </a:r>
            <a:br>
              <a:rPr lang="en-US" sz="5400" dirty="0"/>
            </a:br>
            <a:r>
              <a:rPr lang="en-US" sz="3600" dirty="0"/>
              <a:t>Capstone Project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Setareh Homayoonnia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March 12, 2026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20C1-2EDD-AD92-B521-2B5CB439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1- Problem &amp; Goal of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3C224-D161-2C94-B54B-414EDFAC1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Breast cancer is one of the most common cancers worldwide</a:t>
            </a:r>
            <a:br>
              <a:rPr lang="en-US" dirty="0"/>
            </a:br>
            <a:r>
              <a:rPr lang="en-US" dirty="0"/>
              <a:t>• Early detection significantly improves survival rates</a:t>
            </a:r>
            <a:br>
              <a:rPr lang="en-US" dirty="0"/>
            </a:br>
            <a:r>
              <a:rPr lang="en-US" dirty="0"/>
              <a:t>• Diagnosis often requires expert analysis and can be time-consuming and error-prone</a:t>
            </a:r>
          </a:p>
          <a:p>
            <a:pPr>
              <a:buNone/>
            </a:pPr>
            <a:r>
              <a:rPr lang="en-US" b="1" dirty="0"/>
              <a:t>Goal</a:t>
            </a:r>
            <a:endParaRPr lang="en-US" dirty="0"/>
          </a:p>
          <a:p>
            <a:pPr>
              <a:buNone/>
            </a:pPr>
            <a:r>
              <a:rPr lang="en-US" dirty="0"/>
              <a:t>• Develop a machine learning model to classify tumors as benign or malignant using biopsy features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019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2723-C6D5-6221-040A-519A8E7F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4706-9BBB-3BFC-6943-805B7F14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CA" b="1" dirty="0"/>
              <a:t>Dataset:</a:t>
            </a:r>
            <a:br>
              <a:rPr lang="en-CA" dirty="0"/>
            </a:br>
            <a:r>
              <a:rPr lang="en-CA" dirty="0"/>
              <a:t>Breast Cancer Wisconsin Dataset</a:t>
            </a:r>
          </a:p>
          <a:p>
            <a:pPr lvl="1">
              <a:buNone/>
            </a:pPr>
            <a:r>
              <a:rPr lang="en-CA" dirty="0"/>
              <a:t>• 569 patient samples</a:t>
            </a:r>
          </a:p>
          <a:p>
            <a:pPr>
              <a:buNone/>
            </a:pPr>
            <a:r>
              <a:rPr lang="en-CA" b="1" dirty="0"/>
              <a:t>Features include:</a:t>
            </a:r>
          </a:p>
          <a:p>
            <a:pPr marL="109728" lvl="1" indent="0">
              <a:buNone/>
            </a:pPr>
            <a:r>
              <a:rPr lang="en-CA" dirty="0"/>
              <a:t>• Radius</a:t>
            </a:r>
            <a:br>
              <a:rPr lang="en-CA" dirty="0"/>
            </a:br>
            <a:r>
              <a:rPr lang="en-CA" dirty="0"/>
              <a:t>• Texture</a:t>
            </a:r>
            <a:br>
              <a:rPr lang="en-CA" dirty="0"/>
            </a:br>
            <a:r>
              <a:rPr lang="en-CA" dirty="0"/>
              <a:t>• Perimeter</a:t>
            </a:r>
            <a:br>
              <a:rPr lang="en-CA" dirty="0"/>
            </a:br>
            <a:r>
              <a:rPr lang="en-CA" dirty="0"/>
              <a:t>• Area</a:t>
            </a:r>
            <a:br>
              <a:rPr lang="en-CA" dirty="0"/>
            </a:br>
            <a:r>
              <a:rPr lang="en-CA" dirty="0"/>
              <a:t>• Smoothness</a:t>
            </a:r>
          </a:p>
          <a:p>
            <a:pPr>
              <a:buNone/>
            </a:pPr>
            <a:r>
              <a:rPr lang="en-CA" b="1" dirty="0"/>
              <a:t>Target variable:</a:t>
            </a:r>
          </a:p>
          <a:p>
            <a:pPr marL="201168" lvl="1" indent="0">
              <a:buNone/>
            </a:pPr>
            <a:r>
              <a:rPr lang="en-CA" dirty="0"/>
              <a:t>• Benign</a:t>
            </a:r>
            <a:br>
              <a:rPr lang="en-CA" dirty="0"/>
            </a:br>
            <a:r>
              <a:rPr lang="en-CA" dirty="0"/>
              <a:t>• Malignant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75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884C-3CD2-E7ED-AA14-D984DAF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Machine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9714-07F5-09A6-733C-4AE402562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Workflow Steps: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Data preprocessing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Feature scaling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Train-test split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Model training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Model evaluation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CA" dirty="0"/>
              <a:t>Final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5104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2297-A7B7-D914-D166-6CFE2D3C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4.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237D-1DC1-B7A7-661C-104108AE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CA" b="1" dirty="0"/>
              <a:t>Python</a:t>
            </a:r>
          </a:p>
          <a:p>
            <a:pPr>
              <a:buNone/>
            </a:pPr>
            <a:r>
              <a:rPr lang="en-CA" b="1" dirty="0"/>
              <a:t>Libraries:</a:t>
            </a:r>
          </a:p>
          <a:p>
            <a:r>
              <a:rPr lang="en-CA" dirty="0"/>
              <a:t>• NumPy</a:t>
            </a:r>
            <a:br>
              <a:rPr lang="en-CA" dirty="0"/>
            </a:br>
            <a:r>
              <a:rPr lang="en-CA" dirty="0"/>
              <a:t>• Pandas</a:t>
            </a:r>
            <a:br>
              <a:rPr lang="en-CA" dirty="0"/>
            </a:br>
            <a:r>
              <a:rPr lang="en-CA" dirty="0"/>
              <a:t>• Matplotlib</a:t>
            </a:r>
            <a:br>
              <a:rPr lang="en-CA" dirty="0"/>
            </a:br>
            <a:r>
              <a:rPr lang="en-CA" dirty="0"/>
              <a:t>• Scikit-Learn</a:t>
            </a:r>
          </a:p>
          <a:p>
            <a:pPr>
              <a:buNone/>
            </a:pPr>
            <a:r>
              <a:rPr lang="en-CA" b="1" dirty="0"/>
              <a:t>Machine learning models:</a:t>
            </a:r>
          </a:p>
          <a:p>
            <a:r>
              <a:rPr lang="en-CA" dirty="0"/>
              <a:t>• Logistic Regression</a:t>
            </a:r>
            <a:br>
              <a:rPr lang="en-CA" dirty="0"/>
            </a:br>
            <a:r>
              <a:rPr lang="en-CA" dirty="0"/>
              <a:t>• K-Nearest Neighbors (KNN)</a:t>
            </a:r>
            <a:br>
              <a:rPr lang="en-CA" dirty="0"/>
            </a:br>
            <a:r>
              <a:rPr lang="en-CA" dirty="0"/>
              <a:t>• Decision Tree</a:t>
            </a:r>
            <a:br>
              <a:rPr lang="en-CA" dirty="0"/>
            </a:br>
            <a:r>
              <a:rPr lang="en-CA" dirty="0"/>
              <a:t>• Neural Network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6896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6455-391A-168B-AC09-737833C0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Model 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0D39-C4E4-CA96-E59B-337CC96A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/>
          <a:lstStyle/>
          <a:p>
            <a:r>
              <a:rPr lang="en-CA" sz="2400" b="1" dirty="0"/>
              <a:t>Accuracy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Accuracy was calculated for all models.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Neural Network achieved the highest accuracy, so it was selected for further evaluation.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558FD-F01E-CE6B-FE26-154997A6E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35"/>
          <a:stretch>
            <a:fillRect/>
          </a:stretch>
        </p:blipFill>
        <p:spPr>
          <a:xfrm>
            <a:off x="6041670" y="2108201"/>
            <a:ext cx="5114010" cy="35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2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A459-2808-796B-23F8-3F63870F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Model 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2FEC4-03A3-1FF0-6410-D8C4D510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508080" cy="3760891"/>
          </a:xfrm>
        </p:spPr>
        <p:txBody>
          <a:bodyPr/>
          <a:lstStyle/>
          <a:p>
            <a:r>
              <a:rPr lang="en-US" sz="2400" b="1" dirty="0"/>
              <a:t>Confusion Matrix (NN Model)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True Negatives: correctly predicted benign tumors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True Positives: correctly predicted malignant tumors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Only a few cases were misclassified,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showing that the model performs very well.</a:t>
            </a:r>
            <a:endParaRPr lang="en-CA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1BBC8C9-EB66-F40E-04C2-D4200679A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8" y="1968274"/>
            <a:ext cx="50482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71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3F7F-0A17-AD82-4408-2881B335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Model 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A81FE-43E7-E30C-F88B-22129B48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5405120" cy="3760891"/>
          </a:xfrm>
        </p:spPr>
        <p:txBody>
          <a:bodyPr>
            <a:normAutofit/>
          </a:bodyPr>
          <a:lstStyle/>
          <a:p>
            <a:r>
              <a:rPr lang="en-US" sz="3000" b="1" dirty="0"/>
              <a:t>ROC curve </a:t>
            </a:r>
            <a:r>
              <a:rPr lang="en-US" sz="2000" dirty="0"/>
              <a:t>(NN model)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ROC curve shows the ability of the model to distinguish between benign and malignant tumors.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AUC value is 1.00, which indicates excellent performance, meaning the model can separate the two classes very well.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476358-1493-CADE-0194-571DD8F93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764" y="2108201"/>
            <a:ext cx="4483916" cy="353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64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F756-672F-D334-E0B8-14AFDA0B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6. Final Model Selection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2580C-4D25-B6F5-03B9-8FA7A1F10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5161" y="2224931"/>
            <a:ext cx="5120839" cy="3760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C135A-7D7B-C69E-BA9D-623CAF7E36AB}"/>
              </a:ext>
            </a:extLst>
          </p:cNvPr>
          <p:cNvSpPr txBox="1"/>
          <p:nvPr/>
        </p:nvSpPr>
        <p:spPr>
          <a:xfrm>
            <a:off x="5958092" y="2503211"/>
            <a:ext cx="62339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 Network showed the best overall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KNN also performed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and Decision Tree had lower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 Network selected as the final model</a:t>
            </a:r>
          </a:p>
        </p:txBody>
      </p:sp>
    </p:spTree>
    <p:extLst>
      <p:ext uri="{BB962C8B-B14F-4D97-AF65-F5344CB8AC3E}">
        <p14:creationId xmlns:p14="http://schemas.microsoft.com/office/powerpoint/2010/main" val="4196723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AEBA-3829-F660-EAFB-D18E2DD5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6.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7751-23C9-8192-50BC-8AA19FA58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• Selecting the most appropriate machine learning model</a:t>
            </a:r>
          </a:p>
          <a:p>
            <a:r>
              <a:rPr lang="en-CA" dirty="0"/>
              <a:t>• </a:t>
            </a:r>
            <a:r>
              <a:rPr lang="en-US" dirty="0"/>
              <a:t>Applying feature scaling for algorithms sensitive to feature magnitude</a:t>
            </a:r>
            <a:endParaRPr lang="en-CA" dirty="0"/>
          </a:p>
          <a:p>
            <a:r>
              <a:rPr lang="en-CA" dirty="0"/>
              <a:t>• Preventing overfitting using train-test split</a:t>
            </a:r>
          </a:p>
          <a:p>
            <a:r>
              <a:rPr lang="en-CA" dirty="0"/>
              <a:t>• </a:t>
            </a:r>
            <a:r>
              <a:rPr lang="en-US" dirty="0"/>
              <a:t>Comparing models using accuracy and performing detailed evaluation for the best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435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6278-2F6B-0540-942D-9EBE96A8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7. 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0CFE8-DD5F-BF82-3F4F-E13E81ABA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Potential users:</a:t>
            </a:r>
            <a:endParaRPr lang="en-US" dirty="0"/>
          </a:p>
          <a:p>
            <a:r>
              <a:rPr lang="en-US" dirty="0"/>
              <a:t>• Hospitals and diagnostic centers</a:t>
            </a:r>
            <a:br>
              <a:rPr lang="en-US" dirty="0"/>
            </a:br>
            <a:r>
              <a:rPr lang="en-US" dirty="0"/>
              <a:t>• Medical laboratories analyzing biopsy samples</a:t>
            </a:r>
            <a:br>
              <a:rPr lang="en-US" dirty="0"/>
            </a:br>
            <a:r>
              <a:rPr lang="en-US" dirty="0"/>
              <a:t>• Healthcare technology companies developing diagnostic tools</a:t>
            </a:r>
            <a:br>
              <a:rPr lang="en-US" dirty="0"/>
            </a:br>
            <a:r>
              <a:rPr lang="en-US" dirty="0"/>
              <a:t>• Medical researchers working on cancer detection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4806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5E5C-5714-9494-5E48-7167573B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8. Business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7106-5485-4100-6B3B-8DF58DC46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Possible revenue models:</a:t>
            </a:r>
          </a:p>
          <a:p>
            <a:pPr marL="201168" lvl="1" indent="0">
              <a:buNone/>
            </a:pPr>
            <a:r>
              <a:rPr lang="en-US" dirty="0"/>
              <a:t>• </a:t>
            </a:r>
            <a:r>
              <a:rPr lang="en-US" sz="1800" dirty="0"/>
              <a:t>Software licensing for hospitals and diagnostic centers</a:t>
            </a:r>
            <a:br>
              <a:rPr lang="en-US" sz="1800" dirty="0"/>
            </a:br>
            <a:r>
              <a:rPr lang="en-US" sz="1800" dirty="0"/>
              <a:t>• Integration into medical diagnostic platforms</a:t>
            </a:r>
            <a:br>
              <a:rPr lang="en-US" sz="1800" dirty="0"/>
            </a:br>
            <a:r>
              <a:rPr lang="en-US" sz="1800" dirty="0"/>
              <a:t>• Partnerships with healthcare technology companies</a:t>
            </a:r>
            <a:endParaRPr lang="en-US" sz="2000" dirty="0"/>
          </a:p>
          <a:p>
            <a:pPr>
              <a:buNone/>
            </a:pPr>
            <a:r>
              <a:rPr lang="en-US" b="1" dirty="0"/>
              <a:t>Value proposition:</a:t>
            </a:r>
          </a:p>
          <a:p>
            <a:pPr marL="201168" lvl="1" indent="0">
              <a:buNone/>
            </a:pPr>
            <a:r>
              <a:rPr lang="en-US" dirty="0"/>
              <a:t>• </a:t>
            </a:r>
            <a:r>
              <a:rPr lang="en-US" sz="1800" dirty="0"/>
              <a:t>Faster and more efficient diagnosis</a:t>
            </a:r>
            <a:br>
              <a:rPr lang="en-US" sz="1800" dirty="0"/>
            </a:br>
            <a:r>
              <a:rPr lang="en-US" sz="1800" dirty="0"/>
              <a:t>• Decision support for doctors</a:t>
            </a:r>
            <a:br>
              <a:rPr lang="en-US" sz="1800" dirty="0"/>
            </a:br>
            <a:r>
              <a:rPr lang="en-US" sz="1800" dirty="0"/>
              <a:t>• Improved accuracy in cancer detection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789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D95C-7F8F-BBDE-256D-79503896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Competitor / 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A400-B04A-77D2-1E1D-5B65A52AC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Current diagnosis methods</a:t>
            </a:r>
            <a:endParaRPr lang="en-US" dirty="0"/>
          </a:p>
          <a:p>
            <a:r>
              <a:rPr lang="en-US" dirty="0"/>
              <a:t>• Manual pathology analysis by medical experts</a:t>
            </a:r>
            <a:br>
              <a:rPr lang="en-US" dirty="0"/>
            </a:br>
            <a:r>
              <a:rPr lang="en-US" dirty="0"/>
              <a:t>• Traditional medical diagnostic software</a:t>
            </a:r>
          </a:p>
          <a:p>
            <a:pPr>
              <a:buNone/>
            </a:pPr>
            <a:r>
              <a:rPr lang="en-US" b="1" dirty="0"/>
              <a:t>Advantages of machine learning approach</a:t>
            </a:r>
            <a:endParaRPr lang="en-US" dirty="0"/>
          </a:p>
          <a:p>
            <a:r>
              <a:rPr lang="en-US" dirty="0"/>
              <a:t>• Faster data analysis</a:t>
            </a:r>
            <a:br>
              <a:rPr lang="en-US" dirty="0"/>
            </a:br>
            <a:r>
              <a:rPr lang="en-US" dirty="0"/>
              <a:t>• More consistent predictions</a:t>
            </a:r>
            <a:br>
              <a:rPr lang="en-US" dirty="0"/>
            </a:br>
            <a:r>
              <a:rPr lang="en-US" dirty="0"/>
              <a:t>• Decision support for medical professionals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80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A704-3986-0AB3-D31C-8C4AB100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CD23-F269-C06B-A86F-DCB2BAF81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Machine learning models can effectively classify breast cancer tumors and assist healthcare professionals in early diagnosis.</a:t>
            </a:r>
          </a:p>
          <a:p>
            <a:pPr>
              <a:buNone/>
            </a:pPr>
            <a:r>
              <a:rPr lang="en-US" b="1" dirty="0"/>
              <a:t>Key Outcomes</a:t>
            </a:r>
          </a:p>
          <a:p>
            <a:r>
              <a:rPr lang="en-US" dirty="0"/>
              <a:t>• Developed a machine learning model for breast cancer classification</a:t>
            </a:r>
            <a:br>
              <a:rPr lang="en-US" dirty="0"/>
            </a:br>
            <a:r>
              <a:rPr lang="en-US" dirty="0"/>
              <a:t>• Compared multiple machine learning algorithms</a:t>
            </a:r>
            <a:br>
              <a:rPr lang="en-US" dirty="0"/>
            </a:br>
            <a:r>
              <a:rPr lang="en-US" dirty="0"/>
              <a:t>• Neural Network achieved the highest accuracy</a:t>
            </a:r>
          </a:p>
          <a:p>
            <a:pPr>
              <a:buNone/>
            </a:pPr>
            <a:r>
              <a:rPr lang="en-US" b="1" dirty="0"/>
              <a:t>Future Improvements</a:t>
            </a:r>
          </a:p>
          <a:p>
            <a:r>
              <a:rPr lang="en-US" dirty="0"/>
              <a:t>• Use larger medical datasets</a:t>
            </a:r>
            <a:br>
              <a:rPr lang="en-US" dirty="0"/>
            </a:br>
            <a:r>
              <a:rPr lang="en-US" dirty="0"/>
              <a:t>• Apply deep learning techniques</a:t>
            </a:r>
            <a:br>
              <a:rPr lang="en-US" dirty="0"/>
            </a:br>
            <a:r>
              <a:rPr lang="en-US" dirty="0"/>
              <a:t>• Integrate the system into real clinical tools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73370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purl.org/dc/terms/"/>
    <ds:schemaRef ds:uri="230e9df3-be65-4c73-a93b-d1236ebd677e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71af3243-3dd4-4a8d-8c0d-dd76da1f02a5"/>
    <ds:schemaRef ds:uri="http://schemas.microsoft.com/office/infopath/2007/PartnerControls"/>
    <ds:schemaRef ds:uri="16c05727-aa75-4e4a-9b5f-8a80a1165891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{9C2BCFBA-5518-4AFF-A3D9-25AC194D4257}tf56160789_win32</Template>
  <TotalTime>1970</TotalTime>
  <Words>577</Words>
  <Application>Microsoft Office PowerPoint</Application>
  <PresentationFormat>Widescreen</PresentationFormat>
  <Paragraphs>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Bookman Old Style</vt:lpstr>
      <vt:lpstr>Calibri</vt:lpstr>
      <vt:lpstr>Franklin Gothic Book</vt:lpstr>
      <vt:lpstr>Custom</vt:lpstr>
      <vt:lpstr>Breast Cancer Diagnosis Using Machine Learning k Capstone Project</vt:lpstr>
      <vt:lpstr>1- Problem &amp; Goal of Product</vt:lpstr>
      <vt:lpstr>2. Dataset</vt:lpstr>
      <vt:lpstr>3. Machine Learning Workflow</vt:lpstr>
      <vt:lpstr>4. Technologies Used</vt:lpstr>
      <vt:lpstr>5. Model Evaluation Results</vt:lpstr>
      <vt:lpstr>5. Model Evaluation Results</vt:lpstr>
      <vt:lpstr>5. Model Evaluation Results</vt:lpstr>
      <vt:lpstr>6. Final Model Selection</vt:lpstr>
      <vt:lpstr>6. Challenges</vt:lpstr>
      <vt:lpstr>7. Target Audience</vt:lpstr>
      <vt:lpstr>8. Business Potential</vt:lpstr>
      <vt:lpstr>Competitor / Existing 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 Hom</dc:creator>
  <cp:lastModifiedBy>Set Hom</cp:lastModifiedBy>
  <cp:revision>10</cp:revision>
  <dcterms:created xsi:type="dcterms:W3CDTF">2026-03-12T02:25:56Z</dcterms:created>
  <dcterms:modified xsi:type="dcterms:W3CDTF">2026-03-30T15:35:51Z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